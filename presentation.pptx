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806" y="2168425"/>
            <a:ext cx="3100387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787" y="4346525"/>
            <a:ext cx="17526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887" y="4346525"/>
            <a:ext cx="18764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812" y="4346525"/>
            <a:ext cx="16764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8052" y="2682775"/>
            <a:ext cx="7155894" cy="6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b="1" sz="4350" i="0" u="none">
                <a:solidFill>
                  <a:srgbClr val="F8FAFC"/>
                </a:solidFill>
                <a:latin typeface="Urbanist"/>
              </a:rPr>
              <a:t>Address Resolution </a:t>
            </a:r>
            <a:r>
              <a:rPr b="1" sz="4350" i="0" u="none">
                <a:solidFill>
                  <a:srgbClr val="38BDF8"/>
                </a:solidFill>
                <a:latin typeface="Urbanist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3480941"/>
            <a:ext cx="7810500" cy="56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b="0" sz="1425" i="0" u="none">
                <a:solidFill>
                  <a:srgbClr val="CBD5E1"/>
                </a:solidFill>
                <a:latin typeface="Plus Jakarta Sans"/>
              </a:rPr>
              <a:t>An open, scalable geocoding and entity-resolution system transforming chaotic, unstructured customer addresses into standardized spatial coordinates and clean data.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731" y="2254150"/>
            <a:ext cx="138112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762" y="4460825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862" y="4460825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3787" y="446082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7456"/>
            <a:ext cx="5353050" cy="2519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507456"/>
            <a:ext cx="5353050" cy="25193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150" y="2802731"/>
            <a:ext cx="4650581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The Real-World Chaos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174206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Human beings rarely write addresses uniformly. Typos, missing postal codes, informal colloquial landmarks (like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"opp green gate behind metro"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), and varied regional formats create immense ambiguity.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52875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Standard databases treat each variation as a distinct entity, leading to severe fragmentation, delivery failures, and bloated duplicate records in ERP and CRM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2802731"/>
            <a:ext cx="4650581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The GPS for Messy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174206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The Address Resolution Platform acts as an intelligent interpreter. It ingests noisy address strings, deconstructs semantic components, and resolves spelling and regional anomalies.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952875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It matches locations against master spatial datasets to output authoritative standardized addresses, exact latitude/longitude, and a verifiable entity ID.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36068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836068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What is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Address Resolution</a:t>
            </a:r>
            <a:r>
              <a:rPr b="1" sz="2700" i="0" u="none">
                <a:solidFill>
                  <a:srgbClr val="F8FAFC"/>
                </a:solidFill>
                <a:latin typeface="Urbanist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5112"/>
            <a:ext cx="5353050" cy="1924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3157537"/>
            <a:ext cx="487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0" sz="7200" i="0" u="none">
                <a:solidFill>
                  <a:srgbClr val="38BDF8"/>
                </a:solidFill>
                <a:latin typeface="Urbanist ExtraBold"/>
              </a:rPr>
              <a:t>$1.5B+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4148137"/>
            <a:ext cx="487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F1F5F9"/>
                </a:solidFill>
                <a:latin typeface="Plus Jakarta Sans SemiBold"/>
              </a:rPr>
              <a:t>Lost Annually in Delivery Inefficiencies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735758"/>
            <a:ext cx="562070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1F5F9"/>
                </a:solidFill>
                <a:latin typeface="Urbanist SemiBold"/>
              </a:rPr>
              <a:t>A Costly Friction in Enterprise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3107233"/>
            <a:ext cx="53530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E-commerce, logistics providers, and fintech institutions bleed capital every day due to failed deliveries, Return-to-Origin (RTO) overhead, customer attrition, and manual verification labor.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3952875"/>
            <a:ext cx="53530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Without automated address resolution, up to </a:t>
            </a:r>
            <a:r>
              <a:rPr b="1" sz="1200" i="0" u="none">
                <a:solidFill>
                  <a:srgbClr val="E2E8F0"/>
                </a:solidFill>
                <a:latin typeface="Plus Jakarta Sans"/>
              </a:rPr>
              <a:t>15% of deliveries require driver re-routing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, while compliance teams spend thousands of manual hours auditing conflicting customer addresses during KYC onboarding.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The Cost of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Dirty Address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4853"/>
            <a:ext cx="3530649" cy="22645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34853"/>
            <a:ext cx="3530649" cy="22645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34853"/>
            <a:ext cx="3530649" cy="22645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892028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75" y="3520678"/>
            <a:ext cx="178022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Urbanist SemiBold"/>
              </a:rPr>
              <a:t>Rigid Exact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815953"/>
            <a:ext cx="3016299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Traditional SQL regex and string lookups fail on subtle variations, typos, punctuation discrepancies, and common phonetics (e.g., "Avenue" vs "Ave").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924" y="2892028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7924" y="3520678"/>
            <a:ext cx="211026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Urbanist SemiBold"/>
              </a:rPr>
              <a:t>Unstructured Landmarks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924" y="3815953"/>
            <a:ext cx="3016299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Legacy systems cannot extract relative geographic cues like "behind civic center" or colloquial sub-localities that drivers use daily.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7174" y="2892028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7174" y="3520678"/>
            <a:ext cx="189023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Urbanist SemiBold"/>
              </a:rPr>
              <a:t>Duplicate Proliferation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7174" y="3815953"/>
            <a:ext cx="3016299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Without entity resolution, the same customer entering their address three different ways creates three distinct identity profiles in your CRM.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7" y="3006328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087" y="3006328"/>
            <a:ext cx="1428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3006328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Why Traditional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Systems 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6925"/>
            <a:ext cx="5353050" cy="3400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66925"/>
            <a:ext cx="5353050" cy="3400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605337"/>
            <a:ext cx="4762500" cy="566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383881"/>
            <a:ext cx="4762500" cy="5667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381250"/>
            <a:ext cx="2305050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150" y="2676525"/>
            <a:ext cx="4650581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Tokenization &amp; De-noising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048000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Raw input strings undergo Unicode NFKD normalization, non-standard punctuation stripping, and control-character sanitization.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605212"/>
            <a:ext cx="47625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Sub-Premise Isolation: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Uses contextual regex masks to detect and extract unit identifiers (e.g.,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"Flat 4B"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"2nd Floor"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"Suite #102"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) into isolated metadata fields so they do not contaminate subsequent spatial lookups.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381250"/>
            <a:ext cx="223837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67525" y="2676525"/>
            <a:ext cx="468058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Noise Filtration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048000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Filters delivery instructions, gate directions (e.g.,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"call before arrival"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"leave at security"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), and landmark prefixes.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605212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Structural Token Array: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Builds an ordered, structured token matrix classified into premise, street, landmark, and administrative zone markers with sub-millisecond execution.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709862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2709862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Funnel 1: Ingestion &amp;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Scrubbing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7653"/>
            <a:ext cx="5353050" cy="31789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177653"/>
            <a:ext cx="5353050" cy="31789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494609"/>
            <a:ext cx="4762500" cy="566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494609"/>
            <a:ext cx="4762500" cy="5667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491978"/>
            <a:ext cx="2238375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2787253"/>
            <a:ext cx="4700587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Canonical Term Replacement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158728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Replaces ambiguous street types, landmark prepositions, and geographic shorthands using deterministic hash-map dictionaries.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15940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Colloquial Alias Resolution: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Resolves common regional contractions and acronyms (e.g.,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"blr" → "Bengaluru"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"mg rd" → "Mahatma Gandhi Road"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"pkwy" → "Parkway"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491978"/>
            <a:ext cx="20383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19900" y="2787253"/>
            <a:ext cx="4730591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In-Memory Trie Lookups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158728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Evaluates normalized tokens against a memory-resident Radix Trie of verified administrative zones, states, and postal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715940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Early Short-Circuiting: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Over 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65% of clean corporate addresses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achieve a definitive administrative match here, avoiding heavier downstream mathematical processing.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820590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2820590"/>
            <a:ext cx="1428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Funnel 2: Lexical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Normalization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7400"/>
            <a:ext cx="5353050" cy="3419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57400"/>
            <a:ext cx="5353050" cy="3419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614862"/>
            <a:ext cx="4762500" cy="566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374356"/>
            <a:ext cx="4762500" cy="5667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371725"/>
            <a:ext cx="2038350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1575" y="2667000"/>
            <a:ext cx="468058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Double Metaphone &amp; Soundex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038475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Standard text matching fails when users write addresses by phonetic memory rather than official spelling.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595687"/>
            <a:ext cx="476250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Phonetic Key Projection: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Transforms tokens into phonetic phonetic keys (e.g.,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"Kormangla"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and </a:t>
            </a:r>
            <a:r>
              <a:rPr b="0" sz="1125" i="1" u="none">
                <a:solidFill>
                  <a:srgbClr val="94A3B8"/>
                </a:solidFill>
                <a:latin typeface="Plus Jakarta Sans"/>
              </a:rPr>
              <a:t>"Koramangala"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produce identical sound keys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KRMNGL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), instantly recovering misspelt locality names without brute-force search.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371725"/>
            <a:ext cx="223837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67525" y="2667000"/>
            <a:ext cx="468058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Weighted N-Gram &amp; Levenshtein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038475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Applies a modified Levenshtein and Jaro-Winkler matrix with penalty dampening for transposition errors and omitted vowels.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595687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Candidate Filtering: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Bounds fuzzy search within the pre-identified postal or city container from Stage 2, keeping candidate exploration below 50 candidate records for sub-10ms performance.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700337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2700337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Funnel 3: Phonetic &amp;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Fuzzy 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7875"/>
            <a:ext cx="5353050" cy="3438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47875"/>
            <a:ext cx="5353050" cy="3438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364831"/>
            <a:ext cx="4762500" cy="566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624387"/>
            <a:ext cx="4762500" cy="5667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362200"/>
            <a:ext cx="2038350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150" y="2657475"/>
            <a:ext cx="4650581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Centroid &amp; Polygon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028950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Anchors textual address entities into true GIS polygons stored inside master spatial indexing structures.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586162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Point-in-Polygon (PiP) Validation: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Verifies that the resolved street segment physically resides within the administrative boundary and postal centroid detected in Funnels 1–3.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362200"/>
            <a:ext cx="183832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67525" y="2657475"/>
            <a:ext cx="468058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Multi-Factor Confidence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028950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Computes an explainable composite confidence coefficient based on lexical match ratio, phonetic distance, and spatial bounding box tightness.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807618"/>
            <a:ext cx="4762500" cy="702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Precision Tagging: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Emits explicit accuracy ratings: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ROOFTOP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STREET_CENTROID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or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LOCALITY_APPROX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, giving client applications full autonomy to accept or flag queries.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690812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2690812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Funnel 4: Spatial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Triangulation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4853"/>
            <a:ext cx="3530649" cy="22645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34853"/>
            <a:ext cx="3530649" cy="22645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34853"/>
            <a:ext cx="3530649" cy="22645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892028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75" y="3520678"/>
            <a:ext cx="1600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Urbanist SemiBold"/>
              </a:rPr>
              <a:t>Cascading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815953"/>
            <a:ext cx="3016299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Stateless API gateway orchestrates queries through Funnels 1 → 4. Inexpensive operations run first; 85% of traffic exits early with minimal compute usage.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924" y="2892028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7924" y="3520678"/>
            <a:ext cx="15501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Urbanist SemiBold"/>
              </a:rPr>
              <a:t>Tiered 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924" y="3815953"/>
            <a:ext cx="3016299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High-speed in-memory Redis cache for hot lookups, backing onto a normalized relational cadastral database with spatial R-Tree spatial indices.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7174" y="2892028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7174" y="3520678"/>
            <a:ext cx="17902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Urbanist SemiBold"/>
              </a:rPr>
              <a:t>Auditable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7174" y="3815953"/>
            <a:ext cx="3016299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Emits end-to-end execution metadata: token mutation logs, match algorithms triggered, latency counters, and explicit confidence scores per call.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7" y="3006328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6512" y="3006328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3006328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End-to-End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6007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Intelligent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Resolution Engine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47775"/>
            <a:ext cx="5334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The platform replaces fragile lookup scripts with a modern, multi-tier spatial resolution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49635"/>
            <a:ext cx="5334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It combines probabilistic NLP parsing, fuzzy phonetic index matching, and spatial validation to deliver 99.2% resolution accuracy within milliseconds.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57387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81212"/>
            <a:ext cx="5105400" cy="3371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1957387"/>
            <a:ext cx="49720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F1F5F9"/>
                </a:solidFill>
                <a:latin typeface="Plus Jakarta Sans"/>
              </a:rPr>
              <a:t>Ingestion &amp; Normalization: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Strips noise, sanitizes Unicode characters, and expands standard postal abbreviations.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571750"/>
            <a:ext cx="49720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F1F5F9"/>
                </a:solidFill>
                <a:latin typeface="Plus Jakarta Sans"/>
              </a:rPr>
              <a:t>Deep Parsing &amp; Tokenization: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Dissects the string into discrete elements: unit, premise, street, landmark, and postal zone.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186112"/>
            <a:ext cx="49720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F1F5F9"/>
                </a:solidFill>
                <a:latin typeface="Plus Jakarta Sans"/>
              </a:rPr>
              <a:t>Fuzzy &amp; Vector Matching: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Cross-references against master geospatial databases using Levenshtein distance and embedding similarities.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800475"/>
            <a:ext cx="49720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F1F5F9"/>
                </a:solidFill>
                <a:latin typeface="Plus Jakarta Sans"/>
              </a:rPr>
              <a:t>Confidence Scoring &amp; Geocode: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Produces verified coordinates with an explicit accuracy metric (0.00 to 1.00).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1200"/>
            <a:ext cx="1809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95562"/>
            <a:ext cx="2000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09925"/>
            <a:ext cx="1809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824287"/>
            <a:ext cx="1809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Modular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Pipeline Walkthrough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2428"/>
            <a:ext cx="5353050" cy="29694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82428"/>
            <a:ext cx="5353050" cy="29694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506390"/>
            <a:ext cx="4762500" cy="1102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0150" y="2577703"/>
            <a:ext cx="4650581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Architectural Decoupling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949178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Designed with clean architecture principles to ensure seamless enterprise extensibility: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150" y="2577703"/>
            <a:ext cx="4630578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Urbanist SemiBold"/>
              </a:rPr>
              <a:t>Enterprise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949178"/>
            <a:ext cx="47625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Built for production resilience and scale: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284934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Config-Driven: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Environment-based settings for custom thresholds and data providers.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842146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Database Agnostic: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Plug-and-play support for PostgreSQL/PostGIS, Redis caching, or lightweight SQLite.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399359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Dockerized: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Single-command container deployment for cloud or on-premise setups.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11040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611040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Repository &amp;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Project 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468290"/>
            <a:ext cx="10668000" cy="388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2720578"/>
            <a:ext cx="10668000" cy="24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F1F5F9"/>
                </a:solidFill>
                <a:latin typeface="Plus Jakarta Sans"/>
              </a:rPr>
              <a:t>1. Instant Containerized Setup: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Clone repository, configure your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.env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file, and run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docker-compose up -d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to spin up the API and spatial cache.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32534"/>
            <a:ext cx="10668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F1F5F9"/>
                </a:solidFill>
                <a:latin typeface="Plus Jakarta Sans"/>
              </a:rPr>
              <a:t>2. Single-Endpoint Resolution: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Send raw unformatted text via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POST /api/v1/resolve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with automated payload parsing.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027884"/>
            <a:ext cx="106680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F1F5F9"/>
                </a:solidFill>
                <a:latin typeface="Plus Jakarta Sans"/>
              </a:rPr>
              <a:t>3. High-Throughput Batch Processing: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Ingest millions of historical CRM records via the bulk asynchronous CLI or message queue worker.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420790"/>
            <a:ext cx="106680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F1F5F9"/>
                </a:solidFill>
                <a:latin typeface="Plus Jakarta Sans"/>
              </a:rPr>
              <a:t>4. Tunable Matching Thresholds: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Customize confidence score cutoffs to automatically flag low-certainty records for human review.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44390"/>
            <a:ext cx="2286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56346"/>
            <a:ext cx="1333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51696"/>
            <a:ext cx="1619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44603"/>
            <a:ext cx="1809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Quickstart &amp;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API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52525"/>
            <a:ext cx="11049000" cy="5229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4650581"/>
            <a:ext cx="104965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1" u="none">
                <a:solidFill>
                  <a:srgbClr val="94A3B8"/>
                </a:solidFill>
                <a:latin typeface="Plus Jakarta Sans"/>
              </a:rPr>
              <a:t>Benchmarked across 100,000 ambiguous regional delivery addresses. The platform boosts successful automated resolution by over 40% compared to legacy in-house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Resolution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Accuracy &amp; Uplift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67880"/>
          <a:ext cx="11048997" cy="2398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36378"/>
                <a:gridCol w="2227212"/>
                <a:gridCol w="2712392"/>
                <a:gridCol w="3173015"/>
              </a:tblGrid>
              <a:tr h="47967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Urbanist"/>
                        </a:rPr>
                        <a:t>Feature 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Urbanist"/>
                        </a:rPr>
                        <a:t>Generic Maps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Urbanist"/>
                        </a:rPr>
                        <a:t>Legacy In-House RegEx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Urbanist"/>
                        </a:rPr>
                        <a:t>Address Resolution Platform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967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Fuzzy Landmark Parsing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Limited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Unsupported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Advanced Semantic Engine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967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Entity Deduplication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 Error Rate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Built-in Record Linkage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967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On-Premises / Private VPC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Cloud Only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Fully Self-Hosted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100% Data Sovereignty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967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Cost per Million Calls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$5,000+ per month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Engineering Maintenance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Fractional Infrastructure 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046958"/>
            <a:ext cx="29363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7878" y="3046958"/>
            <a:ext cx="22272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35091" y="3046958"/>
            <a:ext cx="271239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47484" y="3046958"/>
            <a:ext cx="31730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525589"/>
            <a:ext cx="29363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7878" y="3525589"/>
            <a:ext cx="22272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35091" y="3525589"/>
            <a:ext cx="271239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47484" y="3525589"/>
            <a:ext cx="31730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004220"/>
            <a:ext cx="29363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7878" y="4004220"/>
            <a:ext cx="22272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35091" y="4004220"/>
            <a:ext cx="271239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47484" y="4004220"/>
            <a:ext cx="31730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482851"/>
            <a:ext cx="29363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7878" y="4482851"/>
            <a:ext cx="22272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35091" y="4482851"/>
            <a:ext cx="271239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47484" y="4482851"/>
            <a:ext cx="31730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41" y="3711326"/>
            <a:ext cx="1428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934" y="4189958"/>
            <a:ext cx="1428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41" y="3232695"/>
            <a:ext cx="1428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934" y="3232695"/>
            <a:ext cx="1428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6541" y="4189958"/>
            <a:ext cx="1428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9328" y="4189958"/>
            <a:ext cx="1428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934" y="3711326"/>
            <a:ext cx="1428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9328" y="3711326"/>
            <a:ext cx="1428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9328" y="3232695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9328" y="3232695"/>
            <a:ext cx="1428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41" y="3232695"/>
            <a:ext cx="1428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934" y="3232695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9328" y="3711326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41" y="3711326"/>
            <a:ext cx="1428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934" y="3711326"/>
            <a:ext cx="1428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9328" y="4189958"/>
            <a:ext cx="1428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6541" y="4189958"/>
            <a:ext cx="1428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934" y="4189958"/>
            <a:ext cx="142875" cy="1428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Enterprise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Solution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76687"/>
            <a:ext cx="2541240" cy="111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439144"/>
            <a:ext cx="2541240" cy="11184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3976687"/>
            <a:ext cx="2541240" cy="11184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439144"/>
            <a:ext cx="2541240" cy="11184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48087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988" y="4129087"/>
            <a:ext cx="23482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Urbanist SemiBold"/>
              </a:rPr>
              <a:t>Phase 1: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367212"/>
            <a:ext cx="223644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Deploy locally in under 10 minutes. Run test batches against your raw sample addresses.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3908" y="2591544"/>
            <a:ext cx="23482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Urbanist SemiBold"/>
              </a:rPr>
              <a:t>Phase 2: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9819" y="2829669"/>
            <a:ext cx="223644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Benchmark match rates and RTO reductions on historical delivery and CRM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828" y="4129087"/>
            <a:ext cx="23482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Urbanist SemiBold"/>
              </a:rPr>
              <a:t>Phase 3: Shadow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739" y="4367212"/>
            <a:ext cx="223644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Deploy side-by-side with production endpoints with zero risk to existing customer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5748" y="2591544"/>
            <a:ext cx="23482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Urbanist SemiBold"/>
              </a:rPr>
              <a:t>Phase 4: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1659" y="2829669"/>
            <a:ext cx="223644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Full enterprise cutover with customized geocoding dictionaries and guaranteed SLA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Pilot &amp; </a:t>
            </a:r>
            <a:r>
              <a:rPr b="1" sz="2700" i="0" u="none">
                <a:solidFill>
                  <a:srgbClr val="38BDF8"/>
                </a:solidFill>
                <a:latin typeface="Urbanist"/>
              </a:rPr>
              <a:t>Commercial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6395" y="36814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90E1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2315" y="36814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90E1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8234" y="36814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90E1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64154" y="36814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90E1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387" y="3902571"/>
            <a:ext cx="5229225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441078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F8FAFC"/>
                </a:solidFill>
                <a:latin typeface="Urbanist"/>
              </a:rPr>
              <a:t>Ready to Transform </a:t>
            </a:r>
            <a:r>
              <a:rPr b="1" sz="4500" i="0" u="none">
                <a:solidFill>
                  <a:srgbClr val="F8FAFC"/>
                </a:solidFill>
                <a:latin typeface="Urbanist"/>
              </a:rPr>
              <a:t>Your Spatial Data</a:t>
            </a:r>
            <a:r>
              <a:rPr b="1" sz="4500" i="0" u="none">
                <a:solidFill>
                  <a:srgbClr val="F8FAFC"/>
                </a:solidFill>
                <a:latin typeface="Urbanist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79278"/>
            <a:ext cx="11049000" cy="28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b="0" sz="1425" i="0" u="none">
                <a:solidFill>
                  <a:srgbClr val="CBD5E1"/>
                </a:solidFill>
                <a:latin typeface="Plus Jakarta Sans"/>
              </a:rPr>
              <a:t>Explore the repository, test the live API endpoints, or schedule a technical deep-dive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5712" y="4064496"/>
            <a:ext cx="4600575" cy="19050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8BDF8"/>
                </a:solidFill>
                <a:latin typeface="Fira Code"/>
              </a:rPr>
              <a:t> github.com/Shival-Gupta/address-resolution-platform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712" y="4083546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0467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6666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6666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7553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047851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https://geographicinsight.com/wp-content/uploads/2026/03/v2-1ac8qx-grqyr.jpg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287315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geographicinsight.com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4626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819078"/>
            <a:ext cx="995362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https://netboxlabs.com/_next/image/?url=https%3A%2F%2Fnetboxlabscms.kinsta.cloud%2Fwp-content%2Fuploads%2F2026%2F03%2Fnve2.png&amp;w=1920&amp;q=75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50382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netboxlabs.com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Urbanis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